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858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B8C7C1"/>
                </a:solidFill>
                <a:latin typeface="Calibri"/>
              </a:rPr>
              <a:t>MODULE 1 · PRODUCT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685800"/>
            <a:ext cx="28620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B8C7C1"/>
                </a:solidFill>
                <a:latin typeface="Calibri"/>
              </a:rPr>
              <a:t>01 /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9144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0" i="0">
                <a:solidFill>
                  <a:srgbClr val="F6F5F1"/>
                </a:solidFill>
                <a:latin typeface="Cambria"/>
              </a:rPr>
              <a:t>Fable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8FB3A6"/>
                </a:solidFill>
                <a:latin typeface="Calibri"/>
              </a:rPr>
              <a:t>github.com/salmakgilani/Product-leadership-fable-growth-strategy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1">
                <a:solidFill>
                  <a:srgbClr val="B8C7C1"/>
                </a:solidFill>
                <a:latin typeface="Calibri"/>
              </a:rPr>
              <a:t>A retention crisis driven by Fable's own success: users resolve their acute need in 90–120 days, then quietly stop opening the app.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10972800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8FB3A6"/>
                </a:solidFill>
                <a:latin typeface="Calibri"/>
              </a:rPr>
              <a:t>Winning aspiration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2788920"/>
            <a:ext cx="5212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F6F5F1"/>
                </a:solidFill>
                <a:latin typeface="Calibri"/>
              </a:rPr>
              <a:t>The app I turn to for ongoing support long after my original problem eased — not just for the intense first few months.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355848"/>
            <a:ext cx="10972800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355848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8FB3A6"/>
                </a:solidFill>
                <a:latin typeface="Calibri"/>
              </a:rPr>
              <a:t>Where to play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3355848"/>
            <a:ext cx="5212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F6F5F1"/>
                </a:solidFill>
                <a:latin typeface="Calibri"/>
              </a:rPr>
              <a:t>Adults 25–45 who already resolved their acute need in 90–120 days — not new-user acquisition, not a clinical use case.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922776"/>
            <a:ext cx="10972800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922776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8FB3A6"/>
                </a:solidFill>
                <a:latin typeface="Calibri"/>
              </a:rPr>
              <a:t>How to win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3922776"/>
            <a:ext cx="5212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F6F5F1"/>
                </a:solidFill>
                <a:latin typeface="Calibri"/>
              </a:rPr>
              <a:t>Sustaining engagement through the calm, non-clinical experience itself — not vitals tracking, not the intensity/brand plays rivals compete 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489704"/>
            <a:ext cx="10972800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489704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8FB3A6"/>
                </a:solidFill>
                <a:latin typeface="Calibri"/>
              </a:rPr>
              <a:t>Capabilities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4489704"/>
            <a:ext cx="5212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F6F5F1"/>
                </a:solidFill>
                <a:latin typeface="Calibri"/>
              </a:rPr>
              <a:t>In-house behavioral analytics feeding an adaptive personalization engine, detecting journey phase.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056632"/>
            <a:ext cx="10972800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056632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8FB3A6"/>
                </a:solidFill>
                <a:latin typeface="Calibri"/>
              </a:rPr>
              <a:t>Management systems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360" y="5056632"/>
            <a:ext cx="5212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F6F5F1"/>
                </a:solidFill>
                <a:latin typeface="Calibri"/>
              </a:rPr>
              <a:t>90-day+ retention rate; day 91–120 reopen/reactivation rate.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669280"/>
            <a:ext cx="7315200" cy="566928"/>
          </a:xfrm>
          <a:prstGeom prst="roundRect">
            <a:avLst>
              <a:gd name="adj" fmla="val 8000"/>
            </a:avLst>
          </a:prstGeom>
          <a:solidFill>
            <a:srgbClr val="2A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724144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D99A90"/>
                </a:solidFill>
                <a:latin typeface="Calibri"/>
              </a:rPr>
              <a:t>HARD NO: </a:t>
            </a:r>
            <a:r>
              <a:rPr sz="1000" b="0" i="0">
                <a:solidFill>
                  <a:srgbClr val="F6F5F1"/>
                </a:solidFill>
                <a:latin typeface="Calibri"/>
              </a:rPr>
              <a:t>No health-vitals tracking or clinical-monitoring — it would reposition Fable as a clinical platform.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379476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8FB3A6"/>
                </a:solidFill>
                <a:latin typeface="Calibri"/>
              </a:rPr>
              <a:t>OKR CASCADE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75320" y="4114800"/>
            <a:ext cx="3291840" cy="384048"/>
          </a:xfrm>
          <a:prstGeom prst="roundRect">
            <a:avLst>
              <a:gd name="adj" fmla="val 15000"/>
            </a:avLst>
          </a:prstGeom>
          <a:solidFill>
            <a:srgbClr val="243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85048" y="4169663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8FB3A6"/>
                </a:solidFill>
                <a:latin typeface="Calibri"/>
              </a:rPr>
              <a:t>OBJ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42248" y="4160520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F6F5F1"/>
                </a:solidFill>
                <a:latin typeface="Calibri"/>
              </a:rPr>
              <a:t>Turn Fable into a durable companion after the acute phase.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75320" y="4572000"/>
            <a:ext cx="3291840" cy="384048"/>
          </a:xfrm>
          <a:prstGeom prst="roundRect">
            <a:avLst>
              <a:gd name="adj" fmla="val 15000"/>
            </a:avLst>
          </a:prstGeom>
          <a:solidFill>
            <a:srgbClr val="243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85048" y="46268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8FB3A6"/>
                </a:solidFill>
                <a:latin typeface="Calibri"/>
              </a:rPr>
              <a:t>KR1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42248" y="4617720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F6F5F1"/>
                </a:solidFill>
                <a:latin typeface="Calibri"/>
              </a:rPr>
              <a:t>90-day+ retention: 15% → 30% by Q4 2026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75320" y="5029200"/>
            <a:ext cx="3291840" cy="384048"/>
          </a:xfrm>
          <a:prstGeom prst="roundRect">
            <a:avLst>
              <a:gd name="adj" fmla="val 15000"/>
            </a:avLst>
          </a:prstGeom>
          <a:solidFill>
            <a:srgbClr val="243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85048" y="50840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8FB3A6"/>
                </a:solidFill>
                <a:latin typeface="Calibri"/>
              </a:rPr>
              <a:t>KR2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42248" y="5074920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F6F5F1"/>
                </a:solidFill>
                <a:latin typeface="Calibri"/>
              </a:rPr>
              <a:t>Day 91–120 reopen: 8% → 20% by Q4 2026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75320" y="5486400"/>
            <a:ext cx="3291840" cy="384048"/>
          </a:xfrm>
          <a:prstGeom prst="roundRect">
            <a:avLst>
              <a:gd name="adj" fmla="val 15000"/>
            </a:avLst>
          </a:prstGeom>
          <a:solidFill>
            <a:srgbClr val="243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85048" y="55412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8FB3A6"/>
                </a:solidFill>
                <a:latin typeface="Calibri"/>
              </a:rPr>
              <a:t>KR3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42248" y="5532120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F6F5F1"/>
                </a:solidFill>
                <a:latin typeface="Calibri"/>
              </a:rPr>
              <a:t>180-day retention: 10% → 22% by Q4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B8C7C1"/>
                </a:solidFill>
                <a:latin typeface="Calibri"/>
              </a:rPr>
              <a:t>Fable Growth · Product Leadership Final Project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35040" y="6473952"/>
            <a:ext cx="5513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B8C7C1"/>
                </a:solidFill>
                <a:latin typeface="Calibri"/>
              </a:rPr>
              <a:t>github.com/salmakgilani/Product-leadership-fable-growth-strategy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0908792" cy="18288"/>
          </a:xfrm>
          <a:prstGeom prst="rect">
            <a:avLst/>
          </a:prstGeom>
          <a:solidFill>
            <a:srgbClr val="3E6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7772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3E6259"/>
                </a:solidFill>
                <a:latin typeface="Calibri"/>
              </a:rPr>
              <a:t>MODULE 2 · OUTCOME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621792"/>
            <a:ext cx="22219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4B5C56"/>
                </a:solidFill>
                <a:latin typeface="Calibri"/>
              </a:rPr>
              <a:t>02 /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0" i="0">
                <a:solidFill>
                  <a:srgbClr val="14211E"/>
                </a:solidFill>
                <a:latin typeface="Cambria"/>
              </a:rPr>
              <a:t>Three bets, sequenced against the crisis.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7772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1">
                <a:solidFill>
                  <a:srgbClr val="4B5C56"/>
                </a:solidFill>
                <a:latin typeface="Calibri"/>
              </a:rPr>
              <a:t>This quarter's problem: users resolve their acute need, then quietly stop opening Fable. Every Now bet targets that moment.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57400"/>
            <a:ext cx="5394960" cy="8961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22199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DD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22199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3E6259"/>
                </a:solidFill>
                <a:latin typeface="Cambria"/>
              </a:rPr>
              <a:t>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167128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3E6259"/>
                </a:solidFill>
                <a:latin typeface="Calibri"/>
              </a:rPr>
              <a:t>KR1 + KR3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386584"/>
            <a:ext cx="448056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14211E"/>
                </a:solidFill>
                <a:latin typeface="Calibri"/>
              </a:rPr>
              <a:t>We bet personalizing daily check-in prompts to a user's own history will extend engagement past the point their original need resolved.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099815"/>
            <a:ext cx="5394960" cy="8961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" y="326440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DD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26440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3E6259"/>
                </a:solidFill>
                <a:latin typeface="Cambria"/>
              </a:rPr>
              <a:t>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209544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3E6259"/>
                </a:solidFill>
                <a:latin typeface="Calibri"/>
              </a:rPr>
              <a:t>KR1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428999"/>
            <a:ext cx="448056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14211E"/>
                </a:solidFill>
                <a:latin typeface="Calibri"/>
              </a:rPr>
              <a:t>We bet turning app-opening into a repeatable daily habit will keep users returning after their acute problem fades.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142231"/>
            <a:ext cx="5394960" cy="8961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0" y="4306823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DD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306823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3E6259"/>
                </a:solidFill>
                <a:latin typeface="Cambria"/>
              </a:rPr>
              <a:t>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51959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3E6259"/>
                </a:solidFill>
                <a:latin typeface="Calibri"/>
              </a:rPr>
              <a:t>KR2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471416"/>
            <a:ext cx="448056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14211E"/>
                </a:solidFill>
                <a:latin typeface="Calibri"/>
              </a:rPr>
              <a:t>We bet fixing broken re-engagement notifications will recover users who'd otherwise churn silently in the day 91–120 window.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057400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8B3A3A"/>
                </a:solidFill>
                <a:latin typeface="Calibri"/>
              </a:rPr>
              <a:t>CUT ENTIRELY — CONFLICTS WITH STRATEGY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39572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8B3A3A"/>
                </a:solidFill>
                <a:latin typeface="Calibri"/>
              </a:rPr>
              <a:t>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47688" y="237744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14211E"/>
                </a:solidFill>
                <a:latin typeface="Calibri"/>
              </a:rPr>
              <a:t>Premium tier with therapist-matching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47688" y="2615184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 i="0">
                <a:solidFill>
                  <a:srgbClr val="4B5C56"/>
                </a:solidFill>
                <a:latin typeface="Calibri"/>
              </a:rPr>
              <a:t>CEO ask — violates the hard no against clinical repositioning.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301752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8B3A3A"/>
                </a:solidFill>
                <a:latin typeface="Calibri"/>
              </a:rPr>
              <a:t>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47688" y="2999232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14211E"/>
                </a:solidFill>
                <a:latin typeface="Calibri"/>
              </a:rPr>
              <a:t>“Fable for Teams” B2B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47688" y="3236976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 i="0">
                <a:solidFill>
                  <a:srgbClr val="4B5C56"/>
                </a:solidFill>
                <a:latin typeface="Calibri"/>
              </a:rPr>
              <a:t>Wrong customer entirely, outside “where to play.”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3639312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8B3A3A"/>
                </a:solidFill>
                <a:latin typeface="Calibri"/>
              </a:rPr>
              <a:t>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47688" y="3621024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14211E"/>
                </a:solidFill>
                <a:latin typeface="Calibri"/>
              </a:rPr>
              <a:t>Crisis-mode flow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47688" y="385876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 i="0">
                <a:solidFill>
                  <a:srgbClr val="4B5C56"/>
                </a:solidFill>
                <a:latin typeface="Calibri"/>
              </a:rPr>
              <a:t>Serves the acute phase Fable already handles well — opposite of this quarter's problem.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5166360"/>
            <a:ext cx="10908792" cy="914400"/>
          </a:xfrm>
          <a:prstGeom prst="roundRect">
            <a:avLst>
              <a:gd name="adj" fmla="val 5000"/>
            </a:avLst>
          </a:prstGeom>
          <a:solidFill>
            <a:srgbClr val="DD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303520"/>
            <a:ext cx="10424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1">
                <a:solidFill>
                  <a:srgbClr val="14211E"/>
                </a:solidFill>
                <a:latin typeface="Calibri"/>
              </a:rPr>
              <a:t>“I chose to sequence personalization, the streak feature, and the notification fix first because they're the only three items on the backlog that directly move this quarter's OKRs.”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4B5C56"/>
                </a:solidFill>
                <a:latin typeface="Calibri"/>
              </a:rPr>
              <a:t>Fable Growth · Product Leadership Final Project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35040" y="6473952"/>
            <a:ext cx="5513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4B5C56"/>
                </a:solidFill>
                <a:latin typeface="Calibri"/>
              </a:rPr>
              <a:t>github.com/salmakgilani/Product-leadership-fable-growth-strategy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0908792" cy="18288"/>
          </a:xfrm>
          <a:prstGeom prst="rect">
            <a:avLst/>
          </a:prstGeom>
          <a:solidFill>
            <a:srgbClr val="3E6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7772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3E6259"/>
                </a:solidFill>
                <a:latin typeface="Calibri"/>
              </a:rPr>
              <a:t>MODULE 3 · TEAM CHARTER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621792"/>
            <a:ext cx="22219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4B5C56"/>
                </a:solidFill>
                <a:latin typeface="Calibri"/>
              </a:rPr>
              <a:t>03 /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0" i="0">
                <a:solidFill>
                  <a:srgbClr val="14211E"/>
                </a:solidFill>
                <a:latin typeface="Cambria"/>
              </a:rPr>
              <a:t>Who owns what, and how five pods decide.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10908792" cy="777240"/>
          </a:xfrm>
          <a:prstGeom prst="roundRect">
            <a:avLst>
              <a:gd name="adj" fmla="val 5000"/>
            </a:avLst>
          </a:prstGeom>
          <a:solidFill>
            <a:srgbClr val="F2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10424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A67C3D"/>
                </a:solidFill>
                <a:latin typeface="Calibri"/>
              </a:rPr>
              <a:t>TEAM SITUATION · DIAGNOSIS: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4211E"/>
                </a:solidFill>
                <a:latin typeface="Calibri"/>
              </a:rPr>
              <a:t>A Product Owner has gone 3+ months without surfacing risk or showing domain depth — traced to a missing onboarding/KT process, not a fit issue.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2468880"/>
          <a:ext cx="10908792" cy="230428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20240"/>
                <a:gridCol w="4206240"/>
                <a:gridCol w="4782312"/>
              </a:tblGrid>
              <a:tr h="38404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3E6259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T="50800" marB="50800" marL="76200">
                    <a:solidFill>
                      <a:srgbClr val="F6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3E6259"/>
                          </a:solidFill>
                          <a:latin typeface="Calibri"/>
                        </a:rPr>
                        <a:t>Owns</a:t>
                      </a:r>
                    </a:p>
                  </a:txBody>
                  <a:tcPr marT="50800" marB="50800" marL="76200">
                    <a:solidFill>
                      <a:srgbClr val="F6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3E6259"/>
                          </a:solidFill>
                          <a:latin typeface="Calibri"/>
                        </a:rPr>
                        <a:t>Joint call required when…</a:t>
                      </a:r>
                    </a:p>
                  </a:txBody>
                  <a:tcPr marT="50800" marB="50800" marL="76200">
                    <a:solidFill>
                      <a:srgbClr val="F6F5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14211E"/>
                          </a:solidFill>
                          <a:latin typeface="Calibri"/>
                        </a:rPr>
                        <a:t>Core Fable (you)</a:t>
                      </a:r>
                    </a:p>
                  </a:txBody>
                  <a:tcPr marT="38100" marB="381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14211E"/>
                          </a:solidFill>
                          <a:latin typeface="Calibri"/>
                        </a:rPr>
                        <a:t>Strategy, OKRs, core content, shared analytics engine</a:t>
                      </a:r>
                    </a:p>
                  </a:txBody>
                  <a:tcPr marT="38100" marB="381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14211E"/>
                          </a:solidFill>
                          <a:latin typeface="Calibri"/>
                        </a:rPr>
                        <a:t>Core engine logic changes</a:t>
                      </a:r>
                    </a:p>
                  </a:txBody>
                  <a:tcPr marT="38100" marB="38100" marL="762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14211E"/>
                          </a:solidFill>
                          <a:latin typeface="Calibri"/>
                        </a:rPr>
                        <a:t>PM1 · Onboarding</a:t>
                      </a:r>
                    </a:p>
                  </a:txBody>
                  <a:tcPr marT="38100" marB="381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14211E"/>
                          </a:solidFill>
                          <a:latin typeface="Calibri"/>
                        </a:rPr>
                        <a:t>Day-0 to acute-need-resolution surface</a:t>
                      </a:r>
                    </a:p>
                  </a:txBody>
                  <a:tcPr marT="38100" marB="381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14211E"/>
                          </a:solidFill>
                          <a:latin typeface="Calibri"/>
                        </a:rPr>
                        <a:t>Check-ins inside onboarding</a:t>
                      </a:r>
                    </a:p>
                  </a:txBody>
                  <a:tcPr marT="38100" marB="38100" marL="762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14211E"/>
                          </a:solidFill>
                          <a:latin typeface="Calibri"/>
                        </a:rPr>
                        <a:t>PM2 · Retention</a:t>
                      </a:r>
                    </a:p>
                  </a:txBody>
                  <a:tcPr marT="38100" marB="381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14211E"/>
                          </a:solidFill>
                          <a:latin typeface="Calibri"/>
                        </a:rPr>
                        <a:t>Post-90-day reactivation surface</a:t>
                      </a:r>
                    </a:p>
                  </a:txBody>
                  <a:tcPr marT="38100" marB="381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14211E"/>
                          </a:solidFill>
                          <a:latin typeface="Calibri"/>
                        </a:rPr>
                        <a:t>Check-ins inside retention</a:t>
                      </a:r>
                    </a:p>
                  </a:txBody>
                  <a:tcPr marT="38100" marB="38100" marL="762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14211E"/>
                          </a:solidFill>
                          <a:latin typeface="Calibri"/>
                        </a:rPr>
                        <a:t>PM3 · AI check-in</a:t>
                      </a:r>
                    </a:p>
                  </a:txBody>
                  <a:tcPr marT="38100" marB="381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14211E"/>
                          </a:solidFill>
                          <a:latin typeface="Calibri"/>
                        </a:rPr>
                        <a:t>Personalization logic, timing, triggers</a:t>
                      </a:r>
                    </a:p>
                  </a:txBody>
                  <a:tcPr marT="38100" marB="381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14211E"/>
                          </a:solidFill>
                          <a:latin typeface="Calibri"/>
                        </a:rPr>
                        <a:t>Where/when check-ins surface</a:t>
                      </a:r>
                    </a:p>
                  </a:txBody>
                  <a:tcPr marT="38100" marB="38100" marL="762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14211E"/>
                          </a:solidFill>
                          <a:latin typeface="Calibri"/>
                        </a:rPr>
                        <a:t>Growth</a:t>
                      </a:r>
                    </a:p>
                  </a:txBody>
                  <a:tcPr marT="38100" marB="381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14211E"/>
                          </a:solidFill>
                          <a:latin typeface="Calibri"/>
                        </a:rPr>
                        <a:t>Habit mechanics (streaks)</a:t>
                      </a:r>
                    </a:p>
                  </a:txBody>
                  <a:tcPr marT="38100" marB="381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14211E"/>
                          </a:solidFill>
                          <a:latin typeface="Calibri"/>
                        </a:rPr>
                        <a:t>Overlap with check-in/retention</a:t>
                      </a:r>
                    </a:p>
                  </a:txBody>
                  <a:tcPr marT="38100" marB="38100" marL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507492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3E6259"/>
                </a:solidFill>
                <a:latin typeface="Calibri"/>
              </a:rPr>
              <a:t>HOW WE DECIDE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367528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3E6259"/>
                </a:solidFill>
                <a:latin typeface="Calibri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367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14211E"/>
                </a:solidFill>
                <a:latin typeface="Calibri"/>
              </a:rPr>
              <a:t>Inside your own surface: the owning PM decides unilaterally.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62356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3E6259"/>
                </a:solidFill>
                <a:latin typeface="Calibri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6235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14211E"/>
                </a:solidFill>
                <a:latin typeface="Calibri"/>
              </a:rPr>
              <a:t>Cross-boundary: a written handshake, posted 3 business days before the dependent release.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79592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3E6259"/>
                </a:solidFill>
                <a:latin typeface="Calibri"/>
              </a:rP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87959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14211E"/>
                </a:solidFill>
                <a:latin typeface="Calibri"/>
              </a:rPr>
              <a:t>Unresolved after 2 business days: escalates to the Core Fable product lead.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135624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3E6259"/>
                </a:solidFill>
                <a:latin typeface="Calibri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6135624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14211E"/>
                </a:solidFill>
                <a:latin typeface="Calibri"/>
              </a:rPr>
              <a:t>Standing ritual: a weekly cross-pod dependency sync keeps the handshake visible, not skippable.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4B5C56"/>
                </a:solidFill>
                <a:latin typeface="Calibri"/>
              </a:rPr>
              <a:t>Fable Growth · Product Leadership Final Project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6473952"/>
            <a:ext cx="5513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4B5C56"/>
                </a:solidFill>
                <a:latin typeface="Calibri"/>
              </a:rPr>
              <a:t>github.com/salmakgilani/Product-leadership-fable-growth-strategy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0908792" cy="18288"/>
          </a:xfrm>
          <a:prstGeom prst="rect">
            <a:avLst/>
          </a:prstGeom>
          <a:solidFill>
            <a:srgbClr val="3E6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7772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3E6259"/>
                </a:solidFill>
                <a:latin typeface="Calibri"/>
              </a:rPr>
              <a:t>MODULE 5 · FINANCIAL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621792"/>
            <a:ext cx="22219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4B5C56"/>
                </a:solidFill>
                <a:latin typeface="Calibri"/>
              </a:rPr>
              <a:t>04 /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14211E"/>
                </a:solidFill>
                <a:latin typeface="Cambria"/>
              </a:rPr>
              <a:t>Rock #1: AI check-in personalization — the business case.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1">
                <a:solidFill>
                  <a:srgbClr val="4B5C56"/>
                </a:solidFill>
                <a:latin typeface="Calibri"/>
              </a:rPr>
              <a:t>Retained users avoid re-acquisition cost and build the base for a future premium tier — the path forward already committed in place of therapist-matching.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3502152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212848"/>
            <a:ext cx="3108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4B5C56"/>
                </a:solidFill>
                <a:latin typeface="Calibri"/>
              </a:rPr>
              <a:t>TOP ASSUMPTION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450592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14211E"/>
                </a:solidFill>
                <a:latin typeface="Calibri"/>
              </a:rPr>
              <a:t>Calm content style alone holds attention post-acute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2103120"/>
            <a:ext cx="3502152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2212848"/>
            <a:ext cx="3108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4B5C56"/>
                </a:solidFill>
                <a:latin typeface="Calibri"/>
              </a:rPr>
              <a:t>BUILD COST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31152" y="219456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F2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>
                <a:solidFill>
                  <a:srgbClr val="A67C3D"/>
                </a:solidFill>
                <a:latin typeface="Calibri"/>
              </a:rPr>
              <a:t>ASSUMED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450592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1" i="0">
                <a:solidFill>
                  <a:srgbClr val="14211E"/>
                </a:solidFill>
                <a:latin typeface="Cambria"/>
              </a:rPr>
              <a:t>$180,000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2103120"/>
            <a:ext cx="3502152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2" y="2212848"/>
            <a:ext cx="3108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4B5C56"/>
                </a:solidFill>
                <a:latin typeface="Calibri"/>
              </a:rPr>
              <a:t>UNIT RETURN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2450592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14211E"/>
                </a:solidFill>
                <a:latin typeface="Cambria"/>
              </a:rPr>
              <a:t>$38 / retained user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200400"/>
            <a:ext cx="3502152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3310128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 i="0">
                <a:solidFill>
                  <a:srgbClr val="4B5C56"/>
                </a:solidFill>
                <a:latin typeface="Calibri"/>
              </a:rPr>
              <a:t>AT KILL THRESHOLD (+5PT)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363931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14211E"/>
                </a:solidFill>
                <a:latin typeface="Cambria"/>
              </a:rPr>
              <a:t>$19,000 / qtr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25112" y="3200400"/>
            <a:ext cx="3502152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26280" y="3310128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 i="0">
                <a:solidFill>
                  <a:srgbClr val="4B5C56"/>
                </a:solidFill>
                <a:latin typeface="Calibri"/>
              </a:rPr>
              <a:t>AT FULL KR1 TARGET (+15PT)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363931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14211E"/>
                </a:solidFill>
                <a:latin typeface="Cambria"/>
              </a:rPr>
              <a:t>$57,000 / qtr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10144" y="3200400"/>
            <a:ext cx="3502152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1312" y="3310128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 i="0">
                <a:solidFill>
                  <a:srgbClr val="4B5C56"/>
                </a:solidFill>
                <a:latin typeface="Calibri"/>
              </a:rPr>
              <a:t>PAYBACK, CAC-AVOIDANCE ONLY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11312" y="363931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14211E"/>
                </a:solidFill>
                <a:latin typeface="Cambria"/>
              </a:rPr>
              <a:t>3+ quarters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251960"/>
            <a:ext cx="10908792" cy="1051560"/>
          </a:xfrm>
          <a:prstGeom prst="roundRect">
            <a:avLst>
              <a:gd name="adj" fmla="val 6000"/>
            </a:avLst>
          </a:prstGeom>
          <a:solidFill>
            <a:srgbClr val="F3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370832"/>
            <a:ext cx="10424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8B3A3A"/>
                </a:solidFill>
                <a:latin typeface="Calibri"/>
              </a:rPr>
              <a:t>KILL CRITERION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4590288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14211E"/>
                </a:solidFill>
                <a:latin typeface="Calibri"/>
              </a:rPr>
              <a:t>If 90-day+ retention has not reached 20% (a 5-point lift) by end of Q2 2026, the $180,000 Q1 investment is written off, capacity is reallocated to Rocks #2/#3, and the premium-tier plan already committed to the CEO is deferred at least two quarters.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486400"/>
            <a:ext cx="10908792" cy="777240"/>
          </a:xfrm>
          <a:prstGeom prst="roundRect">
            <a:avLst>
              <a:gd name="adj" fmla="val 6000"/>
            </a:avLst>
          </a:prstGeom>
          <a:solidFill>
            <a:srgbClr val="DD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5596128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1" i="0">
                <a:solidFill>
                  <a:srgbClr val="3E6259"/>
                </a:solidFill>
                <a:latin typeface="Calibri"/>
              </a:rPr>
              <a:t>Honest read: </a:t>
            </a:r>
            <a:r>
              <a:rPr sz="1000" b="0" i="1">
                <a:solidFill>
                  <a:srgbClr val="14211E"/>
                </a:solidFill>
                <a:latin typeface="Calibri"/>
              </a:rPr>
              <a:t>CAC-avoidance alone does not justify this investment on its own economics. The real case is unlocking the premium tier once retention is proven.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4B5C56"/>
                </a:solidFill>
                <a:latin typeface="Calibri"/>
              </a:rPr>
              <a:t>Fable Growth · Product Leadership Final Project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6473952"/>
            <a:ext cx="5513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4B5C56"/>
                </a:solidFill>
                <a:latin typeface="Calibri"/>
              </a:rPr>
              <a:t>github.com/salmakgilani/Product-leadership-fable-growth-strategy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858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B8C7C1"/>
                </a:solidFill>
                <a:latin typeface="Calibri"/>
              </a:rPr>
              <a:t>MODULE 6 · INDIVIDUAL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685800"/>
            <a:ext cx="28620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B8C7C1"/>
                </a:solidFill>
                <a:latin typeface="Calibri"/>
              </a:rPr>
              <a:t>05 /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0" i="0">
                <a:solidFill>
                  <a:srgbClr val="F6F5F1"/>
                </a:solidFill>
                <a:latin typeface="Cambria"/>
              </a:rPr>
              <a:t>Building this strategy, end to end.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8FB3A6"/>
                </a:solidFill>
                <a:latin typeface="Calibri"/>
              </a:rPr>
              <a:t>Friction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2316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F6F5F1"/>
                </a:solidFill>
                <a:latin typeface="Cambria"/>
              </a:rPr>
              <a:t>The hardest part was getting a handle on the financials section — understanding exactly what depth and rigor were expected for this part of the role.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20439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8FB3A6"/>
                </a:solidFill>
                <a:latin typeface="Calibri"/>
              </a:rPr>
              <a:t>Key learnings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40479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F6F5F1"/>
                </a:solidFill>
                <a:latin typeface="Cambria"/>
              </a:rPr>
              <a:t>I found I could apply skills from my Claude Code work directly here — automating the GitHub repo sync, and structuring each topic as a back-and-forth: sharing my own take first, seeing how the AI responded, then pushing back or stress-testing its reasoning further. A few of the roadmap and strategy concepts also landed because of the real-world examples Debankur walked through in class.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937759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8FB3A6"/>
                </a:solidFill>
                <a:latin typeface="Calibri"/>
              </a:rPr>
              <a:t>“Aha!” moment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257799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F6F5F1"/>
                </a:solidFill>
                <a:latin typeface="Cambria"/>
              </a:rPr>
              <a:t>The real-world examples were ones I could map directly onto my own project and organization. I'm now applying a few of these concepts at work, and going through this exercise genuinely changed how I look at those situations.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B8C7C1"/>
                </a:solidFill>
                <a:latin typeface="Calibri"/>
              </a:rPr>
              <a:t>Fable Growth · Product Leadership Final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6473952"/>
            <a:ext cx="5513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B8C7C1"/>
                </a:solidFill>
                <a:latin typeface="Calibri"/>
              </a:rPr>
              <a:t>github.com/salmakgilani/Product-leadership-fable-growth-strategy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